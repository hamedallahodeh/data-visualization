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1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87" r:id="rId1"/>
  </p:sldMasterIdLst>
  <p:notesMasterIdLst>
    <p:notesMasterId r:id="rId15"/>
  </p:notesMasterIdLst>
  <p:handoutMasterIdLst>
    <p:handoutMasterId r:id="rId16"/>
  </p:handoutMasterIdLst>
  <p:sldIdLst>
    <p:sldId id="408" r:id="rId21"/>
    <p:sldId id="402" r:id="rId4"/>
    <p:sldId id="401" r:id="rId5"/>
    <p:sldId id="403" r:id="rId6"/>
    <p:sldId id="400" r:id="rId7"/>
    <p:sldId id="393" r:id="rId8"/>
    <p:sldId id="407" r:id="rId9"/>
    <p:sldId id="406" r:id="rId10"/>
    <p:sldId id="405" r:id="rId11"/>
    <p:sldId id="404" r:id="rId12"/>
    <p:sldId id="399" r:id="rId13"/>
    <p:sldId id="29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253" autoAdjust="0"/>
  </p:normalViewPr>
  <p:slideViewPr>
    <p:cSldViewPr snapToGrid="0">
      <p:cViewPr varScale="1">
        <p:scale>
          <a:sx n="75" d="100"/>
          <a:sy n="75" d="100"/>
        </p:scale>
        <p:origin x="9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843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  <Relationship Id="rId21" Type="http://schemas.openxmlformats.org/officeDocument/2006/relationships/slide" Target="slides/slide14.xml"/>
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E8EB38-E1DA-4DC4-869A-770B482FBC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Faculty of Information Technology and Communication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4FE36C-B9B4-4776-B07E-FE561EF0C1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BAC11C-997E-4E6F-8020-50103EB318C2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847708-ED44-4129-AA2E-D26A1091945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51555F-4FA5-49FB-B8BD-73D4C4F3B9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1DADFC-1B99-4FA4-9205-53AE862F1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081924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Faculty of Information Technology and Communication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974D7A-45AB-49D5-BC5B-4E1C8291D4FC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FAB34-C68D-493D-B897-32BBE10A1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1976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8D2F5-6B4C-DCD6-67E8-AED900670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F0C5F6-9D19-4461-F1EB-2E0509754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C25696-C8D2-BBBE-6DAA-B391634C6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>
                <a:srgbClr val="BA2212"/>
              </a:buClr>
              <a:buFont typeface="Wingdings" panose="05000000000000000000" pitchFamily="2" charset="2"/>
              <a:buChar char="ü"/>
            </a:pPr>
            <a:endParaRPr lang="en-US" altLang="en-US" sz="1200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69BA1BE-3980-1F38-A879-DCBF3756011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Faculty of Information Technology and Communication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D9F16-4E80-E8CD-4754-C34F6DAFDB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FAB34-C68D-493D-B897-32BBE10A1C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581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50CAA-4FBB-A553-3487-1013A2686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F832E8-EFB8-63D5-2D41-FAD8B3CCF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6B0840-446F-D8D3-FDA1-A4179B318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>
                <a:srgbClr val="BA2212"/>
              </a:buClr>
              <a:buFont typeface="Wingdings" panose="05000000000000000000" pitchFamily="2" charset="2"/>
              <a:buChar char="ü"/>
            </a:pPr>
            <a:endParaRPr lang="en-US" altLang="en-US" sz="1200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E3BB42F-962B-1042-5FF2-FDC379EF1EB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Faculty of Information Technology and Communication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5D943-211F-A68C-0BE4-2BAE8D9E0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FAB34-C68D-493D-B897-32BBE10A1C2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18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EAF15-0C25-1A8C-0614-651882CBD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6AF5CF-4A77-F469-8B99-40AB157032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D415B4-0A3C-DB46-A214-9AD194645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>
                <a:srgbClr val="BA2212"/>
              </a:buClr>
              <a:buFont typeface="Wingdings" panose="05000000000000000000" pitchFamily="2" charset="2"/>
              <a:buChar char="ü"/>
            </a:pPr>
            <a:endParaRPr lang="en-US" altLang="en-US" sz="1200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0DB2DE5-4EBD-840B-3A3B-CD95503FE80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Faculty of Information Technology and Communication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86A077-0345-E4C8-49C7-E2BA632DC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FAB34-C68D-493D-B897-32BBE10A1C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502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>
                <a:srgbClr val="BA2212"/>
              </a:buClr>
              <a:buFont typeface="Wingdings" panose="05000000000000000000" pitchFamily="2" charset="2"/>
              <a:buChar char="ü"/>
            </a:pPr>
            <a:endParaRPr lang="en-US" altLang="en-US" sz="1200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Faculty of Information Technology and Communication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FAB34-C68D-493D-B897-32BBE10A1C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47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>
                <a:srgbClr val="BA2212"/>
              </a:buClr>
              <a:buFont typeface="Wingdings" panose="05000000000000000000" pitchFamily="2" charset="2"/>
              <a:buChar char="ü"/>
            </a:pPr>
            <a:endParaRPr lang="en-US" altLang="en-US" sz="1200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Faculty of Information Technology and Communication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FAB34-C68D-493D-B897-32BBE10A1C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274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12C8A-661C-6640-93D0-2F8937F7A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978E5F-43F5-75E9-D227-192DAC161C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4A280-6170-2907-5406-0FAC7F2FF3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>
                <a:srgbClr val="BA2212"/>
              </a:buClr>
              <a:buFont typeface="Wingdings" panose="05000000000000000000" pitchFamily="2" charset="2"/>
              <a:buChar char="ü"/>
            </a:pPr>
            <a:endParaRPr lang="en-US" altLang="en-US" sz="1200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7FC110C-4315-3DF2-5C75-8164DA32969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Faculty of Information Technology and Communication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12C104-F22E-FEF7-A82D-213F75663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FAB34-C68D-493D-B897-32BBE10A1C2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005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C553E-D20B-6260-3E24-2075D2C32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0B817E-1CD6-138F-49CB-D5BF3FA79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D50FF6-07EB-C815-A035-63FB7EAF1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>
                <a:srgbClr val="BA2212"/>
              </a:buClr>
              <a:buFont typeface="Wingdings" panose="05000000000000000000" pitchFamily="2" charset="2"/>
              <a:buChar char="ü"/>
            </a:pPr>
            <a:endParaRPr lang="en-US" altLang="en-US" sz="1200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C629A94-025A-D7E6-BF87-A1DEFF180FB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Faculty of Information Technology and Communication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3C71F4-0D7B-02CE-B98F-07065E4E0C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FAB34-C68D-493D-B897-32BBE10A1C2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8649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FA5DC-0063-B4DA-E61F-DD517BD09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43966A-DEE8-F2D9-BA91-E5ECADB72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D24029-21A1-93B6-6A05-DF974AB78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>
                <a:srgbClr val="BA2212"/>
              </a:buClr>
              <a:buFont typeface="Wingdings" panose="05000000000000000000" pitchFamily="2" charset="2"/>
              <a:buChar char="ü"/>
            </a:pPr>
            <a:endParaRPr lang="en-US" altLang="en-US" sz="1200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879BBB9-4351-44C2-9C4B-0E7730DB654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Faculty of Information Technology and Communication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27115B-6751-06F2-0A97-0225CE1597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FAB34-C68D-493D-B897-32BBE10A1C2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8656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>
                <a:srgbClr val="BA2212"/>
              </a:buClr>
              <a:buFont typeface="Wingdings" panose="05000000000000000000" pitchFamily="2" charset="2"/>
              <a:buChar char="ü"/>
            </a:pPr>
            <a:endParaRPr lang="en-US" altLang="en-US" sz="1200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Faculty of Information Technology and Communication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FAB34-C68D-493D-B897-32BBE10A1C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82535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4518-8ADE-4EA8-88B9-2AFF08DAEDA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43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4518-8ADE-4EA8-88B9-2AFF08DA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81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4518-8ADE-4EA8-88B9-2AFF08DAEDA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397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4518-8ADE-4EA8-88B9-2AFF08DA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86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4518-8ADE-4EA8-88B9-2AFF08DA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21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4518-8ADE-4EA8-88B9-2AFF08DA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37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4518-8ADE-4EA8-88B9-2AFF08DA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87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7B4518-8ADE-4EA8-88B9-2AFF08DA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087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4518-8ADE-4EA8-88B9-2AFF08DA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49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4518-8ADE-4EA8-88B9-2AFF08DA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571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4518-8ADE-4EA8-88B9-2AFF08DA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358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57B4518-8ADE-4EA8-88B9-2AFF08DAEDA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6695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8" r:id="rId1"/>
    <p:sldLayoutId id="2147483989" r:id="rId2"/>
    <p:sldLayoutId id="2147483990" r:id="rId3"/>
    <p:sldLayoutId id="2147483991" r:id="rId4"/>
    <p:sldLayoutId id="2147483992" r:id="rId5"/>
    <p:sldLayoutId id="2147483993" r:id="rId6"/>
    <p:sldLayoutId id="2147483994" r:id="rId7"/>
    <p:sldLayoutId id="2147483995" r:id="rId8"/>
    <p:sldLayoutId id="2147483996" r:id="rId9"/>
    <p:sldLayoutId id="2147483997" r:id="rId10"/>
    <p:sldLayoutId id="214748399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95DDCF-4E83-4DA5-AA61-37080432A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1" y="643467"/>
            <a:ext cx="6255026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fontAlgn="auto"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7400" b="1" i="0" u="none" strike="noStrike" normalizeH="0" noProof="0" dirty="0">
                <a:ln>
                  <a:noFill/>
                </a:ln>
                <a:effectLst/>
                <a:uLnTx/>
                <a:uFillTx/>
              </a:rPr>
              <a:t> </a:t>
            </a:r>
            <a:br>
              <a:rPr kumimoji="0" lang="en-US" sz="7400" b="1" i="0" u="none" strike="noStrike" normalizeH="0" noProof="0" dirty="0">
                <a:ln>
                  <a:noFill/>
                </a:ln>
                <a:effectLst/>
                <a:uLnTx/>
                <a:uFillTx/>
              </a:rPr>
            </a:br>
            <a:br>
              <a:rPr lang="en-US" altLang="en-US" sz="5400" dirty="0"/>
            </a:br>
            <a:r>
              <a:rPr lang="en-US" sz="5400" b="1" dirty="0"/>
              <a:t>Data Visualization</a:t>
            </a:r>
            <a:br>
              <a:rPr lang="en-US" sz="5400" b="1" dirty="0"/>
            </a:br>
            <a:r>
              <a:rPr lang="en-US" sz="5400" b="1" dirty="0"/>
              <a:t>(0602344)</a:t>
            </a:r>
            <a:r>
              <a:rPr lang="en-US" sz="5400" dirty="0"/>
              <a:t> </a:t>
            </a:r>
            <a:br>
              <a:rPr lang="en-US" altLang="en-US" sz="7300" dirty="0"/>
            </a:br>
            <a:br>
              <a:rPr lang="en-US" altLang="en-US" dirty="0"/>
            </a:br>
            <a:r>
              <a:rPr lang="en-US" altLang="en-US" sz="2700" b="1" spc="0" dirty="0">
                <a:solidFill>
                  <a:schemeClr val="tx2"/>
                </a:solidFill>
                <a:ea typeface="+mn-ea"/>
                <a:cs typeface="+mn-cs"/>
              </a:rPr>
              <a:t>Submitted To:</a:t>
            </a:r>
            <a:br>
              <a:rPr lang="en-US" altLang="en-US" sz="2700" b="1" spc="0" dirty="0">
                <a:solidFill>
                  <a:schemeClr val="tx2"/>
                </a:solidFill>
                <a:ea typeface="+mn-ea"/>
                <a:cs typeface="+mn-cs"/>
              </a:rPr>
            </a:br>
            <a:r>
              <a:rPr lang="en-US" altLang="en-US" sz="2700" b="1" spc="0" dirty="0">
                <a:solidFill>
                  <a:schemeClr val="tx2"/>
                </a:solidFill>
                <a:ea typeface="+mn-ea"/>
                <a:cs typeface="+mn-cs"/>
              </a:rPr>
              <a:t> </a:t>
            </a:r>
            <a:r>
              <a:rPr lang="en-US" altLang="en-US" sz="2700" b="1" i="1" spc="0" dirty="0">
                <a:solidFill>
                  <a:schemeClr val="tx2"/>
                </a:solidFill>
                <a:ea typeface="+mn-ea"/>
                <a:cs typeface="+mn-cs"/>
              </a:rPr>
              <a:t>Dr. Rasha Al-</a:t>
            </a:r>
            <a:r>
              <a:rPr lang="en-US" altLang="en-US" sz="2700" b="1" i="1" spc="0" dirty="0" err="1">
                <a:solidFill>
                  <a:schemeClr val="tx2"/>
                </a:solidFill>
                <a:ea typeface="+mn-ea"/>
                <a:cs typeface="+mn-cs"/>
              </a:rPr>
              <a:t>bashaireh</a:t>
            </a:r>
            <a:r>
              <a:rPr lang="en-US" altLang="en-US" sz="2700" b="1" i="1" spc="0" dirty="0">
                <a:solidFill>
                  <a:schemeClr val="tx2"/>
                </a:solidFill>
                <a:ea typeface="+mn-ea"/>
                <a:cs typeface="+mn-cs"/>
              </a:rPr>
              <a:t> </a:t>
            </a:r>
            <a:endParaRPr lang="en-US" sz="2700" b="1" i="1" cap="all" spc="0" dirty="0">
              <a:solidFill>
                <a:schemeClr val="tx2"/>
              </a:solidFill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BD7CEE-66ED-4A27-8D57-D73D2E124D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1608" y="643467"/>
            <a:ext cx="4657231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/>
              <a:t>Fall Semester-</a:t>
            </a:r>
          </a:p>
          <a:p>
            <a:pPr algn="ctr"/>
            <a:r>
              <a:rPr lang="en-US" b="1" dirty="0"/>
              <a:t>2024/2025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final Project Presentation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3610C0-CF6C-48B8-A2C1-126EC61FD24A}"/>
              </a:ext>
            </a:extLst>
          </p:cNvPr>
          <p:cNvSpPr txBox="1"/>
          <p:nvPr/>
        </p:nvSpPr>
        <p:spPr>
          <a:xfrm>
            <a:off x="2067865" y="760415"/>
            <a:ext cx="73214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000" b="1" dirty="0">
                <a:solidFill>
                  <a:srgbClr val="0070C0"/>
                </a:solidFill>
                <a:latin typeface="Andalus" panose="02020603050405020304" pitchFamily="18" charset="-78"/>
                <a:ea typeface="Times New Roman" panose="02020603050405020304" pitchFamily="18" charset="0"/>
                <a:cs typeface="Andalus" panose="02020603050405020304" pitchFamily="18" charset="-78"/>
              </a:rPr>
              <a:t>College </a:t>
            </a:r>
            <a:r>
              <a:rPr lang="en-US" sz="2000" b="1" dirty="0">
                <a:solidFill>
                  <a:srgbClr val="0070C0"/>
                </a:solidFill>
                <a:effectLst/>
                <a:latin typeface="Andalus" panose="02020603050405020304" pitchFamily="18" charset="-78"/>
                <a:ea typeface="Times New Roman" panose="02020603050405020304" pitchFamily="18" charset="0"/>
                <a:cs typeface="Andalus" panose="02020603050405020304" pitchFamily="18" charset="-78"/>
              </a:rPr>
              <a:t>of Information Technology and Communication</a:t>
            </a:r>
          </a:p>
        </p:txBody>
      </p:sp>
      <p:pic>
        <p:nvPicPr>
          <p:cNvPr id="4" name="Picture 3" descr="photo">
            <a:extLst>
              <a:ext uri="{FF2B5EF4-FFF2-40B4-BE49-F238E27FC236}">
                <a16:creationId xmlns:a16="http://schemas.microsoft.com/office/drawing/2014/main" id="{FA693738-D959-3BF2-1170-7571D1F2E6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57" t="7463" r="20895" b="18657"/>
          <a:stretch>
            <a:fillRect/>
          </a:stretch>
        </p:blipFill>
        <p:spPr bwMode="auto">
          <a:xfrm>
            <a:off x="9172270" y="424530"/>
            <a:ext cx="951865" cy="10718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4222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6AB6D-514D-4F0C-85AB-B00AB2C256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530" y="1341119"/>
            <a:ext cx="11820939" cy="3007361"/>
          </a:xfrm>
        </p:spPr>
        <p:txBody>
          <a:bodyPr anchor="b">
            <a:normAutofit/>
          </a:bodyPr>
          <a:lstStyle/>
          <a:p>
            <a:pPr algn="ctr"/>
            <a:r>
              <a:rPr lang="en-US" sz="6000" i="1" dirty="0">
                <a:solidFill>
                  <a:srgbClr val="C00000"/>
                </a:solidFill>
                <a:latin typeface="Arial" panose="020B0604020202020204" pitchFamily="34" charset="0"/>
              </a:rPr>
              <a:t>Mobile Device Usage and User Behavior Dataset</a:t>
            </a:r>
            <a:endParaRPr lang="en-US" sz="6000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E4A635-D34D-4BFE-B144-CBF3D265B0CE}"/>
              </a:ext>
            </a:extLst>
          </p:cNvPr>
          <p:cNvSpPr txBox="1"/>
          <p:nvPr/>
        </p:nvSpPr>
        <p:spPr>
          <a:xfrm>
            <a:off x="1381759" y="4348480"/>
            <a:ext cx="9432013" cy="1961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</a:rPr>
              <a:t>GROUP #: 16</a:t>
            </a:r>
            <a:br>
              <a:rPr lang="en-US" sz="2800" dirty="0">
                <a:latin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</a:rPr>
              <a:t>GROUP MEMBERS NAMES:</a:t>
            </a:r>
            <a:r>
              <a:rPr lang="ar-JO" sz="2800" dirty="0">
                <a:latin typeface="Arial" panose="020B0604020202020204" pitchFamily="34" charset="0"/>
              </a:rPr>
              <a:t>عبدالله الخوالدة ،حمدالله عيسى </a:t>
            </a:r>
          </a:p>
          <a:p>
            <a:pPr algn="ctr">
              <a:lnSpc>
                <a:spcPct val="150000"/>
              </a:lnSpc>
            </a:pPr>
            <a:r>
              <a:rPr lang="ar-JO" sz="2800" dirty="0">
                <a:latin typeface="Arial" panose="020B0604020202020204" pitchFamily="34" charset="0"/>
              </a:rPr>
              <a:t>،عمر </a:t>
            </a:r>
            <a:r>
              <a:rPr lang="ar-JO" sz="2800" dirty="0" err="1">
                <a:latin typeface="Arial" panose="020B0604020202020204" pitchFamily="34" charset="0"/>
              </a:rPr>
              <a:t>عكبراوي</a:t>
            </a:r>
            <a:r>
              <a:rPr lang="ar-JO" sz="2800" dirty="0">
                <a:latin typeface="Arial" panose="020B0604020202020204" pitchFamily="34" charset="0"/>
              </a:rPr>
              <a:t> ،عمر مكي، عبدالله تايه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67912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194FE-C7AF-26F9-8125-F4ECD2200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5CF79-90DF-C578-A8EB-530095735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C00000"/>
                </a:solidFill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38E59-DE00-B716-815E-A13A7082B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743548"/>
            <a:ext cx="10058400" cy="3393092"/>
          </a:xfrm>
        </p:spPr>
        <p:txBody>
          <a:bodyPr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tabLst>
                <a:tab pos="228600" algn="r"/>
                <a:tab pos="457200" algn="l"/>
              </a:tabLst>
            </a:pPr>
            <a:r>
              <a:rPr lang="en-US" altLang="en-US" dirty="0">
                <a:solidFill>
                  <a:schemeClr val="tx1"/>
                </a:solidFill>
                <a:latin typeface="Lora" pitchFamily="2" charset="0"/>
                <a:cs typeface="Times New Roman" panose="02020603050405020304" pitchFamily="18" charset="0"/>
              </a:rPr>
              <a:t>Key Features:</a:t>
            </a:r>
            <a:endParaRPr lang="ar-JO" altLang="en-US" dirty="0">
              <a:solidFill>
                <a:schemeClr val="tx1"/>
              </a:solidFill>
              <a:latin typeface="Lora" pitchFamily="2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228600" algn="r"/>
                <a:tab pos="457200" algn="l"/>
              </a:tabLst>
            </a:pPr>
            <a:r>
              <a:rPr lang="en-US" altLang="en-US" dirty="0">
                <a:solidFill>
                  <a:schemeClr val="tx1"/>
                </a:solidFill>
                <a:latin typeface="Lora" pitchFamily="2" charset="0"/>
                <a:cs typeface="Times New Roman" panose="02020603050405020304" pitchFamily="18" charset="0"/>
              </a:rPr>
              <a:t>User ID.</a:t>
            </a:r>
            <a:endParaRPr lang="ar-JO" altLang="en-US" dirty="0">
              <a:solidFill>
                <a:schemeClr val="tx1"/>
              </a:solidFill>
              <a:latin typeface="Lora" pitchFamily="2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228600" algn="r"/>
                <a:tab pos="457200" algn="l"/>
              </a:tabLst>
            </a:pPr>
            <a:r>
              <a:rPr lang="en-US" altLang="en-US" dirty="0">
                <a:solidFill>
                  <a:schemeClr val="tx1"/>
                </a:solidFill>
                <a:latin typeface="Lora" pitchFamily="2" charset="0"/>
                <a:cs typeface="Times New Roman" panose="02020603050405020304" pitchFamily="18" charset="0"/>
              </a:rPr>
              <a:t>Device Model.</a:t>
            </a:r>
            <a:endParaRPr lang="ar-JO" altLang="en-US" dirty="0">
              <a:solidFill>
                <a:schemeClr val="tx1"/>
              </a:solidFill>
              <a:latin typeface="Lora" pitchFamily="2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228600" algn="r"/>
                <a:tab pos="457200" algn="l"/>
              </a:tabLst>
            </a:pPr>
            <a:r>
              <a:rPr lang="en-US" altLang="en-US" dirty="0">
                <a:solidFill>
                  <a:schemeClr val="tx1"/>
                </a:solidFill>
                <a:latin typeface="Lora" pitchFamily="2" charset="0"/>
                <a:cs typeface="Times New Roman" panose="02020603050405020304" pitchFamily="18" charset="0"/>
              </a:rPr>
              <a:t>Operating System.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228600" algn="r"/>
                <a:tab pos="457200" algn="l"/>
              </a:tabLst>
            </a:pPr>
            <a:r>
              <a:rPr lang="en-US" altLang="en-US" dirty="0">
                <a:solidFill>
                  <a:schemeClr val="tx1"/>
                </a:solidFill>
                <a:latin typeface="Lora" pitchFamily="2" charset="0"/>
                <a:cs typeface="Times New Roman" panose="02020603050405020304" pitchFamily="18" charset="0"/>
              </a:rPr>
              <a:t>App Usage Time.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228600" algn="r"/>
                <a:tab pos="457200" algn="l"/>
              </a:tabLst>
            </a:pPr>
            <a:r>
              <a:rPr lang="en-US" altLang="en-US" dirty="0">
                <a:solidFill>
                  <a:schemeClr val="tx1"/>
                </a:solidFill>
                <a:latin typeface="Lora" pitchFamily="2" charset="0"/>
                <a:cs typeface="Times New Roman" panose="02020603050405020304" pitchFamily="18" charset="0"/>
              </a:rPr>
              <a:t>Screen On Time.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228600" algn="r"/>
                <a:tab pos="457200" algn="l"/>
              </a:tabLst>
            </a:pPr>
            <a:r>
              <a:rPr lang="en-US" altLang="en-US" dirty="0">
                <a:solidFill>
                  <a:schemeClr val="tx1"/>
                </a:solidFill>
                <a:latin typeface="Lora" pitchFamily="2" charset="0"/>
                <a:cs typeface="Times New Roman" panose="02020603050405020304" pitchFamily="18" charset="0"/>
              </a:rPr>
              <a:t>Battery Drain.</a:t>
            </a:r>
            <a:endParaRPr lang="ar-JO" altLang="en-US" dirty="0">
              <a:solidFill>
                <a:schemeClr val="tx1"/>
              </a:solidFill>
              <a:latin typeface="Lora" pitchFamily="2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228600" algn="r"/>
                <a:tab pos="457200" algn="l"/>
              </a:tabLst>
            </a:pPr>
            <a:r>
              <a:rPr lang="en-US" altLang="en-US" dirty="0">
                <a:solidFill>
                  <a:schemeClr val="tx1"/>
                </a:solidFill>
                <a:latin typeface="Lora" pitchFamily="2" charset="0"/>
                <a:cs typeface="Times New Roman" panose="02020603050405020304" pitchFamily="18" charset="0"/>
              </a:rPr>
              <a:t>Number of Apps Installed.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228600" algn="r"/>
                <a:tab pos="457200" algn="l"/>
              </a:tabLst>
            </a:pPr>
            <a:r>
              <a:rPr lang="en-US" altLang="en-US" dirty="0">
                <a:solidFill>
                  <a:schemeClr val="tx1"/>
                </a:solidFill>
                <a:latin typeface="Lora" pitchFamily="2" charset="0"/>
                <a:cs typeface="Times New Roman" panose="02020603050405020304" pitchFamily="18" charset="0"/>
              </a:rPr>
              <a:t>Data Usage.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228600" algn="r"/>
                <a:tab pos="457200" algn="l"/>
              </a:tabLst>
            </a:pPr>
            <a:r>
              <a:rPr lang="en-US" altLang="en-US" dirty="0">
                <a:solidFill>
                  <a:schemeClr val="tx1"/>
                </a:solidFill>
                <a:latin typeface="Lora" pitchFamily="2" charset="0"/>
                <a:cs typeface="Times New Roman" panose="02020603050405020304" pitchFamily="18" charset="0"/>
              </a:rPr>
              <a:t>Age.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228600" algn="r"/>
                <a:tab pos="457200" algn="l"/>
              </a:tabLst>
            </a:pPr>
            <a:r>
              <a:rPr lang="en-US" altLang="en-US" dirty="0">
                <a:solidFill>
                  <a:schemeClr val="tx1"/>
                </a:solidFill>
                <a:latin typeface="Lora" pitchFamily="2" charset="0"/>
                <a:cs typeface="Times New Roman" panose="02020603050405020304" pitchFamily="18" charset="0"/>
              </a:rPr>
              <a:t>Gender.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228600" algn="r"/>
                <a:tab pos="457200" algn="l"/>
              </a:tabLst>
            </a:pPr>
            <a:r>
              <a:rPr lang="en-US" altLang="en-US" dirty="0">
                <a:solidFill>
                  <a:schemeClr val="tx1"/>
                </a:solidFill>
                <a:latin typeface="Lora" pitchFamily="2" charset="0"/>
                <a:cs typeface="Times New Roman" panose="02020603050405020304" pitchFamily="18" charset="0"/>
              </a:rPr>
              <a:t>User Behavior Class.</a:t>
            </a:r>
            <a:endParaRPr lang="en-US" dirty="0">
              <a:solidFill>
                <a:schemeClr val="tx1"/>
              </a:solidFill>
              <a:latin typeface="Lora" pitchFamily="2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D0A76-463A-9776-9919-1FF674C8C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4518-8ADE-4EA8-88B9-2AFF08DAEDA7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C0402D-47A4-9DCC-D052-F8C7AA0F94EC}"/>
              </a:ext>
            </a:extLst>
          </p:cNvPr>
          <p:cNvSpPr txBox="1"/>
          <p:nvPr/>
        </p:nvSpPr>
        <p:spPr>
          <a:xfrm>
            <a:off x="1036320" y="1912552"/>
            <a:ext cx="101761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dirty="0">
                <a:latin typeface="Lora" pitchFamily="2" charset="0"/>
              </a:rPr>
              <a:t>This dataset provides a comprehensive analysis of mobile device usage patterns and user behavior classification.</a:t>
            </a:r>
            <a:endParaRPr lang="en-GB" sz="2300" b="0" i="0" u="none" strike="noStrike" baseline="0" dirty="0"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074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31C4F-9D32-9C3A-F8B3-1DB615F20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75182-1C36-B47A-CBAC-F68858790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C00000"/>
                </a:solidFill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61937-DA8A-6ADC-ADC3-A2D42F45C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tabLst>
                <a:tab pos="228600" algn="r"/>
                <a:tab pos="457200" algn="l"/>
              </a:tabLst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60B3E-8B12-145E-0500-2506474A2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4518-8ADE-4EA8-88B9-2AFF08DAEDA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43E13E-EA30-3F8A-E078-358251FA4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784" y="1991670"/>
            <a:ext cx="9948216" cy="3731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57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B45D16-9493-55B9-3962-9A5E55B7F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5A52B12-0826-4A26-ABA2-386F72111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D0DA68-F652-496F-B8B5-9A66255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9304A6-2E0E-4473-7EA4-2B226D8F7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4467B-0F28-590E-5011-E35B79221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  <a:tabLst>
                <a:tab pos="228600" algn="r"/>
                <a:tab pos="457200" algn="l"/>
              </a:tabLst>
            </a:pPr>
            <a:endParaRPr lang="en-US" altLang="en-US" sz="15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50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F50AF6-4E23-4BD9-92C7-45A3E16E4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9CCF2C4E-C4AE-3A2E-E33E-0A008527B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816" y="640080"/>
            <a:ext cx="6708483" cy="557784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DC5201-2F5F-C4A0-A848-1A44ED5DF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57B4518-8ADE-4EA8-88B9-2AFF08DAEDA7}" type="slidenum">
              <a:rPr lang="en-US">
                <a:solidFill>
                  <a:schemeClr val="tx2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371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E5156-A7CC-4D67-9D28-F672051F9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>
                <a:solidFill>
                  <a:srgbClr val="C00000"/>
                </a:solidFill>
              </a:rPr>
              <a:t>Dataset Sample Snapshot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921A7-F220-40AA-A2F1-3FD568067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tabLst>
                <a:tab pos="228600" algn="r"/>
                <a:tab pos="457200" algn="l"/>
              </a:tabLst>
            </a:pP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F071C-BD06-44AC-8C63-43C16867F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4518-8ADE-4EA8-88B9-2AFF08DAEDA7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3AF202-62FC-504B-D805-CE53E7E9E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214" y="2225039"/>
            <a:ext cx="10084269" cy="280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514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E5156-A7CC-4D67-9D28-F672051F9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692" y="273372"/>
            <a:ext cx="10058400" cy="1450757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C00000"/>
                </a:solidFill>
              </a:rPr>
              <a:t> Dataset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921A7-F220-40AA-A2F1-3FD568067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96555"/>
            <a:ext cx="10058400" cy="4050792"/>
          </a:xfrm>
        </p:spPr>
        <p:txBody>
          <a:bodyPr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tabLst>
                <a:tab pos="228600" algn="r"/>
                <a:tab pos="457200" algn="l"/>
              </a:tabLst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F071C-BD06-44AC-8C63-43C16867F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4518-8ADE-4EA8-88B9-2AFF08DAEDA7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 descr="A graph with different colored bars&#10;&#10;Description automatically generated with medium confidence">
            <a:extLst>
              <a:ext uri="{FF2B5EF4-FFF2-40B4-BE49-F238E27FC236}">
                <a16:creationId xmlns:a16="http://schemas.microsoft.com/office/drawing/2014/main" id="{828A116C-24AD-53D0-7B72-9E3FC7CAF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797" y="1796555"/>
            <a:ext cx="8030406" cy="450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299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1B083-BB2E-37B6-3B87-EE4E07034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0B59D-F386-84F0-8512-FC34A4D78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692" y="273372"/>
            <a:ext cx="10058400" cy="1450757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C00000"/>
                </a:solidFill>
              </a:rPr>
              <a:t> Dataset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81E76-1822-E7A0-EC4A-8F229DBA6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96555"/>
            <a:ext cx="10058400" cy="4050792"/>
          </a:xfrm>
        </p:spPr>
        <p:txBody>
          <a:bodyPr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tabLst>
                <a:tab pos="228600" algn="r"/>
                <a:tab pos="457200" algn="l"/>
              </a:tabLst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0CE164-72A9-74CA-99A3-5DFE26710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4518-8ADE-4EA8-88B9-2AFF08DAEDA7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 descr="A graph of blue and orange lines&#10;&#10;Description automatically generated">
            <a:extLst>
              <a:ext uri="{FF2B5EF4-FFF2-40B4-BE49-F238E27FC236}">
                <a16:creationId xmlns:a16="http://schemas.microsoft.com/office/drawing/2014/main" id="{9C06EE69-E78C-9CAE-A564-5020526846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3419" y="1796555"/>
            <a:ext cx="5664945" cy="441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467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A251D-1BE3-E0D4-9870-958C1A6BD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FF9D5-C9BE-4A5D-DDB2-EA394EF71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692" y="273372"/>
            <a:ext cx="10058400" cy="1450757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C00000"/>
                </a:solidFill>
              </a:rPr>
              <a:t> Dataset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ABF94-870A-0C3E-5DDC-5DF87D03C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96555"/>
            <a:ext cx="10058400" cy="4050792"/>
          </a:xfrm>
        </p:spPr>
        <p:txBody>
          <a:bodyPr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tabLst>
                <a:tab pos="228600" algn="r"/>
                <a:tab pos="457200" algn="l"/>
              </a:tabLst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1369B-C460-6FC7-A275-DCA7A895C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4518-8ADE-4EA8-88B9-2AFF08DAEDA7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 descr="A graph of a number of data&#10;&#10;Description automatically generated">
            <a:extLst>
              <a:ext uri="{FF2B5EF4-FFF2-40B4-BE49-F238E27FC236}">
                <a16:creationId xmlns:a16="http://schemas.microsoft.com/office/drawing/2014/main" id="{3BE5A1A0-529D-BC9C-79BE-4F4162EB8A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788" y="1796555"/>
            <a:ext cx="7110208" cy="451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149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60870-4B0C-74F1-C6FB-20F5F1384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86CB6-E22E-9287-99A9-88E3F65EA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692" y="273372"/>
            <a:ext cx="10058400" cy="1450757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C00000"/>
                </a:solidFill>
              </a:rPr>
              <a:t> Dataset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4C403-4A54-2BF3-7F1D-3E212B063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96555"/>
            <a:ext cx="10058400" cy="4050792"/>
          </a:xfrm>
        </p:spPr>
        <p:txBody>
          <a:bodyPr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tabLst>
                <a:tab pos="228600" algn="r"/>
                <a:tab pos="457200" algn="l"/>
              </a:tabLst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66685A-3C6A-B2C8-AF13-601D2C833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4518-8ADE-4EA8-88B9-2AFF08DAEDA7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 descr="A graph of different colors&#10;&#10;Description automatically generated with medium confidence">
            <a:extLst>
              <a:ext uri="{FF2B5EF4-FFF2-40B4-BE49-F238E27FC236}">
                <a16:creationId xmlns:a16="http://schemas.microsoft.com/office/drawing/2014/main" id="{84B817FC-B360-7D8C-E348-03A19F6C8D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605" y="1796555"/>
            <a:ext cx="8272789" cy="448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173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A4FC5-2531-D9D5-25F3-F8E02AB3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Dataset Visualizations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43819-22C9-760B-EC6C-3FE6D411A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4518-8ADE-4EA8-88B9-2AFF08DAEDA7}" type="slidenum">
              <a:rPr lang="en-US" smtClean="0"/>
              <a:t>11</a:t>
            </a:fld>
            <a:endParaRPr lang="en-US"/>
          </a:p>
        </p:txBody>
      </p:sp>
      <p:pic>
        <p:nvPicPr>
          <p:cNvPr id="10" name="Content Placeholder 9" descr="A graph of different colored bars&#10;&#10;Description automatically generated with medium confidence">
            <a:extLst>
              <a:ext uri="{FF2B5EF4-FFF2-40B4-BE49-F238E27FC236}">
                <a16:creationId xmlns:a16="http://schemas.microsoft.com/office/drawing/2014/main" id="{39DBD9C7-AF02-BE47-E41D-F3DB8882A8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761" y="1844539"/>
            <a:ext cx="9015438" cy="4359729"/>
          </a:xfrm>
        </p:spPr>
      </p:pic>
    </p:spTree>
    <p:extLst>
      <p:ext uri="{BB962C8B-B14F-4D97-AF65-F5344CB8AC3E}">
        <p14:creationId xmlns:p14="http://schemas.microsoft.com/office/powerpoint/2010/main" val="3810323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E5156-A7CC-4D67-9D28-F672051F9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</a:rPr>
              <a:t>References/source of 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921A7-F220-40AA-A2F1-3FD568067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96555"/>
            <a:ext cx="10058400" cy="4050792"/>
          </a:xfrm>
        </p:spPr>
        <p:txBody>
          <a:bodyPr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tabLst>
                <a:tab pos="228600" algn="r"/>
                <a:tab pos="457200" algn="l"/>
              </a:tabLst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F071C-BD06-44AC-8C63-43C16867F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4518-8ADE-4EA8-88B9-2AFF08DAEDA7}" type="slidenum">
              <a:rPr lang="en-US" smtClean="0"/>
              <a:t>12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EE9227-DFCA-953F-50AE-EA5847F72641}"/>
              </a:ext>
            </a:extLst>
          </p:cNvPr>
          <p:cNvSpPr txBox="1"/>
          <p:nvPr/>
        </p:nvSpPr>
        <p:spPr>
          <a:xfrm>
            <a:off x="1154083" y="2052321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https://www.kaggle.com/datasets/valakhorasani/mobile-device-usage-and-user-behavior-dataset?resource=download</a:t>
            </a:r>
          </a:p>
        </p:txBody>
      </p:sp>
    </p:spTree>
    <p:extLst>
      <p:ext uri="{BB962C8B-B14F-4D97-AF65-F5344CB8AC3E}">
        <p14:creationId xmlns:p14="http://schemas.microsoft.com/office/powerpoint/2010/main" val="3388015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051A4A-18C4-4DA7-95CD-6FB5BC13C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4518-8ADE-4EA8-88B9-2AFF08DAEDA7}" type="slidenum">
              <a:rPr lang="en-US" smtClean="0"/>
              <a:t>13</a:t>
            </a:fld>
            <a:endParaRPr lang="en-US"/>
          </a:p>
        </p:txBody>
      </p:sp>
      <p:sp>
        <p:nvSpPr>
          <p:cNvPr id="6" name="Scroll: Horizontal 5">
            <a:extLst>
              <a:ext uri="{FF2B5EF4-FFF2-40B4-BE49-F238E27FC236}">
                <a16:creationId xmlns:a16="http://schemas.microsoft.com/office/drawing/2014/main" id="{EDD167E8-8C44-452B-9B2A-FB8F71E004CA}"/>
              </a:ext>
            </a:extLst>
          </p:cNvPr>
          <p:cNvSpPr/>
          <p:nvPr/>
        </p:nvSpPr>
        <p:spPr>
          <a:xfrm>
            <a:off x="2444760" y="1709530"/>
            <a:ext cx="7852179" cy="3074504"/>
          </a:xfrm>
          <a:prstGeom prst="horizontalScroll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224528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Mobile Device Usage and User Behavior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Visualization Project</a:t>
            </a:r>
          </a:p>
          <a:p>
            <a:r>
              <a:rPr lang="en-US" dirty="0"/>
              <a:t>Student: Hamedallah Anwer Hamedallah Issa</a:t>
            </a:r>
          </a:p>
          <a:p>
            <a:r>
              <a:rPr lang="en-US" dirty="0"/>
              <a:t>Student ID: 320220603007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6369</TotalTime>
  <Words>238</Words>
  <Application>Microsoft Office PowerPoint</Application>
  <PresentationFormat>Widescreen</PresentationFormat>
  <Paragraphs>63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Andalus</vt:lpstr>
      <vt:lpstr>Arial</vt:lpstr>
      <vt:lpstr>Calibri</vt:lpstr>
      <vt:lpstr>Calibri Light</vt:lpstr>
      <vt:lpstr>Lora</vt:lpstr>
      <vt:lpstr>Times New Roman</vt:lpstr>
      <vt:lpstr>Wingdings</vt:lpstr>
      <vt:lpstr>Retrospect</vt:lpstr>
      <vt:lpstr>   Data Visualization (0602344)   Submitted To:  Dr. Rasha Al-bashaireh </vt:lpstr>
      <vt:lpstr>Mobile Device Usage and User Behavior Dataset</vt:lpstr>
      <vt:lpstr>Dataset Description</vt:lpstr>
      <vt:lpstr>Dataset Description</vt:lpstr>
      <vt:lpstr>Dataset Description</vt:lpstr>
      <vt:lpstr>Dataset Sample Snapshot</vt:lpstr>
      <vt:lpstr> Dataset Visualizations</vt:lpstr>
      <vt:lpstr> Dataset Visualizations</vt:lpstr>
      <vt:lpstr> Dataset Visualizations</vt:lpstr>
      <vt:lpstr> Dataset Visualizations</vt:lpstr>
      <vt:lpstr>Dataset Visualizations</vt:lpstr>
      <vt:lpstr>References/source of the dataset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rasha albashaireh</dc:creator>
  <cp:lastModifiedBy>عبد الله محمد هاشم تايه</cp:lastModifiedBy>
  <cp:revision>1143</cp:revision>
  <dcterms:created xsi:type="dcterms:W3CDTF">2021-02-28T19:43:37Z</dcterms:created>
  <dcterms:modified xsi:type="dcterms:W3CDTF">2025-01-06T13:54:49Z</dcterms:modified>
</cp:coreProperties>
</file>